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Caveat"/>
      <p:regular r:id="rId42"/>
      <p:bold r:id="rId43"/>
    </p:embeddedFont>
    <p:embeddedFont>
      <p:font typeface="Nunito"/>
      <p:regular r:id="rId44"/>
      <p:bold r:id="rId45"/>
      <p:italic r:id="rId46"/>
      <p:boldItalic r:id="rId47"/>
    </p:embeddedFont>
    <p:embeddedFont>
      <p:font typeface="Maven Pro"/>
      <p:regular r:id="rId48"/>
      <p:bold r:id="rId49"/>
    </p:embeddedFont>
    <p:embeddedFont>
      <p:font typeface="Roboto Mon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Caveat-regular.fntdata"/><Relationship Id="rId41" Type="http://schemas.openxmlformats.org/officeDocument/2006/relationships/slide" Target="slides/slide36.xml"/><Relationship Id="rId44" Type="http://schemas.openxmlformats.org/officeDocument/2006/relationships/font" Target="fonts/Nunito-regular.fntdata"/><Relationship Id="rId43" Type="http://schemas.openxmlformats.org/officeDocument/2006/relationships/font" Target="fonts/Caveat-bold.fntdata"/><Relationship Id="rId46" Type="http://schemas.openxmlformats.org/officeDocument/2006/relationships/font" Target="fonts/Nunito-italic.fntdata"/><Relationship Id="rId45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avenPro-regular.fntdata"/><Relationship Id="rId47" Type="http://schemas.openxmlformats.org/officeDocument/2006/relationships/font" Target="fonts/Nunito-boldItalic.fntdata"/><Relationship Id="rId49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.fntdata"/><Relationship Id="rId50" Type="http://schemas.openxmlformats.org/officeDocument/2006/relationships/font" Target="fonts/RobotoMono-regular.fntdata"/><Relationship Id="rId53" Type="http://schemas.openxmlformats.org/officeDocument/2006/relationships/font" Target="fonts/RobotoMono-boldItalic.fntdata"/><Relationship Id="rId52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53dec4579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53dec4579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53dec4579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53dec4579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d53dec4579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d53dec4579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53dec4579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53dec4579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53dec4579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d53dec457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d53dec4579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d53dec4579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d53dec4579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d53dec4579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d53dec4579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d53dec4579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53dec4579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53dec457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d53dec4579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d53dec4579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d53dec4579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d53dec4579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d53dec4579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d53dec4579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d53dec4579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d53dec4579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d55d2f27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d55d2f27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d567b05b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d567b05b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111db0da5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111db0da5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d111db0da5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d111db0da5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d111db0da5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d111db0da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d12fde91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d12fde91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d12fde91a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d12fde91a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d6df271b8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d6df271b8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d3bf6d49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d3bf6d49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d4038d7e3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d4038d7e3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d6591fb1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d6591fb1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d7a52ea8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d7a52ea8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d7a52ea8e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d7a52ea8e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d7a52ea8e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d7a52ea8e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d7a52ea8e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d7a52ea8e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d7a52ea8e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d7a52ea8e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d7a52ea8e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d7a52ea8e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d7a52ea8e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d7a52ea8e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d7a52ea8e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d7a52ea8e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d7a52ea8e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d7a52ea8e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da8e692c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da8e692c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da8e692c3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da8e692c3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/>
        </p:nvSpPr>
        <p:spPr>
          <a:xfrm>
            <a:off x="223825" y="4701325"/>
            <a:ext cx="3655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Interfaz Gráfica de Usuario (GUI). JavaFX</a:t>
            </a:r>
            <a:endParaRPr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6239500" y="4723825"/>
            <a:ext cx="24735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0000"/>
                </a:solidFill>
                <a:latin typeface="Caveat"/>
                <a:ea typeface="Caveat"/>
                <a:cs typeface="Caveat"/>
                <a:sym typeface="Caveat"/>
              </a:rPr>
              <a:t>Rafael del Castillo Gomariz</a:t>
            </a:r>
            <a:endParaRPr sz="1500">
              <a:solidFill>
                <a:srgbClr val="FF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3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13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5" name="Google Shape;95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3" name="Google Shape;103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9" name="Google Shape;109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6" name="Google Shape;116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7" name="Google Shape;117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" name="Google Shape;120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21" name="Google Shape;121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" name="Google Shape;124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5" name="Google Shape;125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7" name="Google Shape;127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1" name="Google Shape;131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5" name="Google Shape;135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9" name="Google Shape;139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2" name="Google Shape;142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5" name="Google Shape;145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6" name="Google Shape;146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1" name="Google Shape;151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" name="Google Shape;156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7" name="Google Shape;157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2" name="Google Shape;162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6" name="Google Shape;166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2" name="Google Shape;172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" name="Google Shape;176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7" name="Google Shape;177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" name="Google Shape;180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1" name="Google Shape;181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" name="Google Shape;186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7" name="Google Shape;187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" name="Google Shape;191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2" name="Google Shape;192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" name="Google Shape;196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7" name="Google Shape;197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" name="Google Shape;200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1" name="Google Shape;201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" name="Google Shape;205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6" name="Google Shape;206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1" name="Google Shape;211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" name="Google Shape;216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7" name="Google Shape;217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" name="Google Shape;221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2" name="Google Shape;222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" name="Google Shape;225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6" name="Google Shape;226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" name="Google Shape;230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1" name="Google Shape;231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" name="Google Shape;236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7" name="Google Shape;237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" name="Google Shape;241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2" name="Google Shape;242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5" name="Google Shape;245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6" name="Google Shape;246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" name="Google Shape;251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2" name="Google Shape;252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6" name="Google Shape;256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7" name="Google Shape;257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1" name="Google Shape;261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2" name="Google Shape;262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5" name="Google Shape;265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6" name="Google Shape;266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0" name="Google Shape;270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s.wikipedia.org/wiki/Interfaz_gr%C3%A1fica_de_usuario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s.wikipedia.org/wiki/Abstract_Window_Toolkit" TargetMode="External"/><Relationship Id="rId4" Type="http://schemas.openxmlformats.org/officeDocument/2006/relationships/hyperlink" Target="https://es.wikipedia.org/wiki/Swing_(biblioteca_gr%C3%A1fica)" TargetMode="External"/><Relationship Id="rId5" Type="http://schemas.openxmlformats.org/officeDocument/2006/relationships/hyperlink" Target="https://es.wikipedia.org/wiki/SWT" TargetMode="External"/><Relationship Id="rId6" Type="http://schemas.openxmlformats.org/officeDocument/2006/relationships/hyperlink" Target="https://es.wikipedia.org/wiki/JavaFX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xataka.com/basics/que-es-una-aplicacion-web-progresiva-o-pwa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penjfx.io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penjfx.io/javadoc/11/javafx.graphics/javafx/stage/Stage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penjfx.io/javadoc/11/javafx.graphics/javafx/scene/Scene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penjfx.io/javadoc/11/javafx.graphics/javafx/scene/Node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penjfx.io/javadoc/11/javafx.controls/javafx/scene/control/Control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penjfx.io/javadoc/11/javafx.graphics/javafx/scene/layout/package-summary.html" TargetMode="External"/><Relationship Id="rId4" Type="http://schemas.openxmlformats.org/officeDocument/2006/relationships/hyperlink" Target="https://openjfx.io/javadoc/11/javafx.graphics/javafx/scene/Parent.html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penjfx.io/javadoc/11/javafx.graphics/javafx/application/Application.html" TargetMode="External"/><Relationship Id="rId4" Type="http://schemas.openxmlformats.org/officeDocument/2006/relationships/hyperlink" Target="https://openjfx.io/javadoc/11/javafx.graphics/javafx/application/Application.html#launch(java.lang.String...)" TargetMode="External"/><Relationship Id="rId9" Type="http://schemas.openxmlformats.org/officeDocument/2006/relationships/image" Target="../media/image10.png"/><Relationship Id="rId5" Type="http://schemas.openxmlformats.org/officeDocument/2006/relationships/hyperlink" Target="https://openjfx.io/javadoc/11/javafx.graphics/javafx/application/Application.html#init()" TargetMode="External"/><Relationship Id="rId6" Type="http://schemas.openxmlformats.org/officeDocument/2006/relationships/hyperlink" Target="https://openjfx.io/javadoc/11/javafx.graphics/javafx/application/Application.html#start(javafx.stage.Stage)" TargetMode="External"/><Relationship Id="rId7" Type="http://schemas.openxmlformats.org/officeDocument/2006/relationships/hyperlink" Target="https://openjfx.io/javadoc/11/javafx.graphics/javafx/application/Application.html#stop()" TargetMode="External"/><Relationship Id="rId8" Type="http://schemas.openxmlformats.org/officeDocument/2006/relationships/hyperlink" Target="https://github.com/rdelcastillo/DAW-JavaFX11/blob/main/org/iesgrancapitan/PROGR/openjfx/Ej01HolaMundo.java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tutorials.jenkov.com/javafx/your-first-javafx-application.html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rdelcastillo/DAW-JavaFX11/blob/main/org/iesgrancapitan/PROGR/openjfx/Ej02HolaMundo.java" TargetMode="External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tutorials.jenkov.com/javafx/stage.html" TargetMode="External"/><Relationship Id="rId4" Type="http://schemas.openxmlformats.org/officeDocument/2006/relationships/image" Target="../media/image11.png"/><Relationship Id="rId5" Type="http://schemas.openxmlformats.org/officeDocument/2006/relationships/hyperlink" Target="https://github.com/rdelcastillo/DAW-JavaFX11/tree/main/org/iesgrancapitan/PROGR/openjfx" TargetMode="External"/><Relationship Id="rId6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rdelcastillo/DAW-JavaFX11/blob/main/org/iesgrancapitan/PROGR/openjfx/Ej07VentanasConEventos.java" TargetMode="External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penjfx.io/javadoc/11/javafx.graphics/javafx/scene/Scene.html" TargetMode="External"/><Relationship Id="rId4" Type="http://schemas.openxmlformats.org/officeDocument/2006/relationships/hyperlink" Target="http://tutorials.jenkov.com/javafx/scene.html" TargetMode="External"/><Relationship Id="rId5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penjfx.io/javadoc/11/javafx.graphics/javafx/scene/Node.html" TargetMode="External"/><Relationship Id="rId4" Type="http://schemas.openxmlformats.org/officeDocument/2006/relationships/hyperlink" Target="https://openjfx.io/javadoc/11/javafx.graphics/javafx/scene/Parent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tutorials.jenkov.com/javafx/node.html" TargetMode="External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javiergarciaescobedo.es/programacion-en-java/96-javafx/481-hojas-de-estilo-css-con-javafx" TargetMode="External"/><Relationship Id="rId4" Type="http://schemas.openxmlformats.org/officeDocument/2006/relationships/hyperlink" Target="http://tutorials.jenkov.com/javafx/fxml.html" TargetMode="External"/><Relationship Id="rId9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hyperlink" Target="https://github.com/rdelcastillo/DAW-JavaFX11/blob/main/org/iesgrancapitan/PROGR/openjfx/Ej11Factorial.java" TargetMode="External"/><Relationship Id="rId7" Type="http://schemas.openxmlformats.org/officeDocument/2006/relationships/image" Target="../media/image9.png"/><Relationship Id="rId8" Type="http://schemas.openxmlformats.org/officeDocument/2006/relationships/hyperlink" Target="https://docs.oracle.com/javafx/2/api/javafx/scene/doc-files/cssref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penjfx.io/javadoc/11/javafx.base/javafx/event/Event.html" TargetMode="External"/><Relationship Id="rId4" Type="http://schemas.openxmlformats.org/officeDocument/2006/relationships/hyperlink" Target="https://openjfx.io/javadoc/11/javafx.graphics/javafx/scene/input/MouseEvent.html" TargetMode="External"/><Relationship Id="rId5" Type="http://schemas.openxmlformats.org/officeDocument/2006/relationships/hyperlink" Target="https://openjfx.io/javadoc/11/javafx.graphics/javafx/scene/input/KeyEvent.html" TargetMode="External"/><Relationship Id="rId6" Type="http://schemas.openxmlformats.org/officeDocument/2006/relationships/hyperlink" Target="https://openjfx.io/javadoc/11/javafx.graphics/javafx/stage/WindowEvent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penjfx.io/javadoc/11/javafx.base/javafx/event/EventHandler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penjfx.io/javadoc/11/javafx.base/javafx/event/EventHandler.html" TargetMode="External"/><Relationship Id="rId4" Type="http://schemas.openxmlformats.org/officeDocument/2006/relationships/hyperlink" Target="https://openjfx.io/javadoc/11/javafx.base/javafx/event/EventHandler.html#handle(T)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penjfx.io/javadoc/11/javafx.graphics/javafx/concurrent/Service.html#addEventFilter(javafx.event.EventType,javafx.event.EventHandler)" TargetMode="External"/><Relationship Id="rId4" Type="http://schemas.openxmlformats.org/officeDocument/2006/relationships/hyperlink" Target="https://openjfx.io/javadoc/11/javafx.graphics/javafx/concurrent/Service.html#addEventHandler(javafx.event.EventType,javafx.event.EventHandler)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7planning.org/10625/javafx-hbox-vbox" TargetMode="External"/><Relationship Id="rId4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7planning.org/10625/javafx-hbox-vbox" TargetMode="External"/><Relationship Id="rId4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7planning.org/10629/javafx-borderpane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o7planning.org/10627/javafx-flowpane" TargetMode="External"/><Relationship Id="rId4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o7planning.org/10641/javafx-gridpane" TargetMode="External"/><Relationship Id="rId4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7planning.org/10633/javafx-stackpan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o7planning.org/10643/javafx-tilepane" TargetMode="External"/><Relationship Id="rId4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o7planning.org/10645/javafx-anchorpane" TargetMode="Externa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 txBox="1"/>
          <p:nvPr>
            <p:ph type="ctrTitle"/>
          </p:nvPr>
        </p:nvSpPr>
        <p:spPr>
          <a:xfrm>
            <a:off x="824000" y="1613825"/>
            <a:ext cx="4513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Interfaz gráfica de usuario (GUI).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JavaFX</a:t>
            </a:r>
            <a:endParaRPr/>
          </a:p>
        </p:txBody>
      </p:sp>
      <p:sp>
        <p:nvSpPr>
          <p:cNvPr id="280" name="Google Shape;280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Módulo de Programación.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CFGS Desarrollo de Aplicaciones Web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IES Gran Capitán</a:t>
            </a:r>
            <a:endParaRPr/>
          </a:p>
        </p:txBody>
      </p:sp>
      <p:pic>
        <p:nvPicPr>
          <p:cNvPr id="281" name="Google Shape;28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2000" y="2514600"/>
            <a:ext cx="3502001" cy="26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Interfaz gráfica de usuario (GUI)</a:t>
            </a:r>
            <a:endParaRPr/>
          </a:p>
        </p:txBody>
      </p:sp>
      <p:sp>
        <p:nvSpPr>
          <p:cNvPr id="287" name="Google Shape;287;p14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La </a:t>
            </a:r>
            <a:r>
              <a:rPr lang="es" u="sng">
                <a:solidFill>
                  <a:schemeClr val="hlink"/>
                </a:solidFill>
                <a:hlinkClick r:id="rId3"/>
              </a:rPr>
              <a:t>interfaz gráfica de usuario</a:t>
            </a:r>
            <a:r>
              <a:rPr lang="es"/>
              <a:t>, conocida también como GUI, es un programa informático que actúa de interfaz de usuario, utilizando un conjunto de imágenes y objetos gráficos para representar la información y acciones disponibles en la interfaz. Su principal uso consiste en proporcionar un entorno visual sencillo para permitir la comunicación con el sistema operativo de una máquina o computador.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APIs para GUIs en Java</a:t>
            </a:r>
            <a:endParaRPr/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u="sng">
                <a:solidFill>
                  <a:schemeClr val="hlink"/>
                </a:solidFill>
                <a:hlinkClick r:id="rId3"/>
              </a:rPr>
              <a:t>AWT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/>
              <a:t>Estaba concebida como una API estandarizada que permitía utilizar los componentes nativos de cada sistema operativo.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u="sng">
                <a:solidFill>
                  <a:schemeClr val="hlink"/>
                </a:solidFill>
                <a:hlinkClick r:id="rId4"/>
              </a:rPr>
              <a:t>Swing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/>
              <a:t>Emula la apariencia de los componentes nativos de los SOs manteniendo las ventajas de la independencia de la plataforma.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u="sng">
                <a:solidFill>
                  <a:schemeClr val="hlink"/>
                </a:solidFill>
                <a:hlinkClick r:id="rId5"/>
              </a:rPr>
              <a:t>SWT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/>
              <a:t>Conjunto de componentes para construir interfaces gráficas en Java desarrollados por el proyecto Eclipse.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u="sng">
                <a:solidFill>
                  <a:schemeClr val="hlink"/>
                </a:solidFill>
                <a:hlinkClick r:id="rId6"/>
              </a:rPr>
              <a:t>JavaFX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</a:t>
            </a:r>
            <a:endParaRPr/>
          </a:p>
        </p:txBody>
      </p:sp>
      <p:pic>
        <p:nvPicPr>
          <p:cNvPr id="300" name="Google Shape;3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900" y="698601"/>
            <a:ext cx="8546300" cy="35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¿GUIs nativas o aplicaciones web?</a:t>
            </a:r>
            <a:endParaRPr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general, se puede realizar una aplicación web y adaptarla para su uso móvil o de escritorio (</a:t>
            </a:r>
            <a:r>
              <a:rPr lang="es" u="sng">
                <a:solidFill>
                  <a:schemeClr val="hlink"/>
                </a:solidFill>
                <a:hlinkClick r:id="rId3"/>
              </a:rPr>
              <a:t>aplicación web progresiva</a:t>
            </a:r>
            <a:r>
              <a:rPr lang="es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</a:t>
            </a:r>
            <a:r>
              <a:rPr lang="es"/>
              <a:t>as </a:t>
            </a:r>
            <a:r>
              <a:rPr b="1" lang="es"/>
              <a:t>aplicaciones nativas</a:t>
            </a:r>
            <a:r>
              <a:rPr lang="es"/>
              <a:t> suelen ser las preferidas cuando se utilizan con frecuencia o si el flujo de trabajo es complicado. También cuando se necesita acceder al disco local de el ordenador donde se ejecuta o comunicarse con muchos sistemas remotos diferentes.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JavaFX</a:t>
            </a:r>
            <a:endParaRPr/>
          </a:p>
        </p:txBody>
      </p:sp>
      <p:sp>
        <p:nvSpPr>
          <p:cNvPr id="312" name="Google Shape;312;p18"/>
          <p:cNvSpPr txBox="1"/>
          <p:nvPr>
            <p:ph idx="1" type="body"/>
          </p:nvPr>
        </p:nvSpPr>
        <p:spPr>
          <a:xfrm>
            <a:off x="1303200" y="12620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JavaFX</a:t>
            </a:r>
            <a:r>
              <a:rPr lang="es"/>
              <a:t> es un kit de herramientas GUI para Java que puede ejecutarse en todos los siguientes sistemas operativos y dispositivos: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Windows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GNU/Linux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Mac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iOS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Android / Chromebook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Raspberry Pi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JavaFX vs Swing</a:t>
            </a:r>
            <a:endParaRPr/>
          </a:p>
        </p:txBody>
      </p:sp>
      <p:sp>
        <p:nvSpPr>
          <p:cNvPr id="318" name="Google Shape;318;p19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</a:t>
            </a:r>
            <a:endParaRPr/>
          </a:p>
        </p:txBody>
      </p:sp>
      <p:pic>
        <p:nvPicPr>
          <p:cNvPr id="319" name="Google Shape;3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50" y="1192200"/>
            <a:ext cx="7313050" cy="34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de una aplicación JavaFX</a:t>
            </a:r>
            <a:endParaRPr/>
          </a:p>
        </p:txBody>
      </p:sp>
      <p:sp>
        <p:nvSpPr>
          <p:cNvPr id="325" name="Google Shape;325;p20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</a:t>
            </a:r>
            <a:endParaRPr/>
          </a:p>
        </p:txBody>
      </p:sp>
      <p:pic>
        <p:nvPicPr>
          <p:cNvPr id="326" name="Google Shape;326;p20"/>
          <p:cNvPicPr preferRelativeResize="0"/>
          <p:nvPr/>
        </p:nvPicPr>
        <p:blipFill rotWithShape="1">
          <a:blip r:embed="rId3">
            <a:alphaModFix/>
          </a:blip>
          <a:srcRect b="6532" l="5382" r="6231" t="7968"/>
          <a:stretch/>
        </p:blipFill>
        <p:spPr>
          <a:xfrm>
            <a:off x="2680612" y="1349800"/>
            <a:ext cx="4087575" cy="31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de una aplicación JavaFX</a:t>
            </a:r>
            <a:endParaRPr/>
          </a:p>
        </p:txBody>
      </p:sp>
      <p:sp>
        <p:nvSpPr>
          <p:cNvPr id="332" name="Google Shape;332;p21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</a:t>
            </a:r>
            <a:endParaRPr/>
          </a:p>
        </p:txBody>
      </p:sp>
      <p:pic>
        <p:nvPicPr>
          <p:cNvPr id="333" name="Google Shape;333;p21"/>
          <p:cNvPicPr preferRelativeResize="0"/>
          <p:nvPr/>
        </p:nvPicPr>
        <p:blipFill rotWithShape="1">
          <a:blip r:embed="rId3">
            <a:alphaModFix/>
          </a:blip>
          <a:srcRect b="0" l="0" r="0" t="5740"/>
          <a:stretch/>
        </p:blipFill>
        <p:spPr>
          <a:xfrm>
            <a:off x="15375" y="1690075"/>
            <a:ext cx="6422075" cy="275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8950" y="1771300"/>
            <a:ext cx="2731424" cy="19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Stage</a:t>
            </a:r>
            <a:endParaRPr/>
          </a:p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</a:t>
            </a:r>
            <a:r>
              <a:rPr b="1" lang="es"/>
              <a:t>escenario (</a:t>
            </a:r>
            <a:r>
              <a:rPr b="1" i="1" lang="es"/>
              <a:t>stage</a:t>
            </a:r>
            <a:r>
              <a:rPr b="1" lang="es"/>
              <a:t>)</a:t>
            </a:r>
            <a:r>
              <a:rPr lang="es"/>
              <a:t> es el marco exterior de una aplicación JavaFX y corresponde a una </a:t>
            </a:r>
            <a:r>
              <a:rPr b="1" lang="es"/>
              <a:t>ventana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Una aplicación JavaFX tiene un objeto </a:t>
            </a:r>
            <a:r>
              <a:rPr b="1"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Stage</a:t>
            </a:r>
            <a:r>
              <a:rPr b="1" lang="es"/>
              <a:t> principal</a:t>
            </a:r>
            <a:r>
              <a:rPr lang="es"/>
              <a:t> que es creado en tiempo de ejecución.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 una aplicación JavaFX se pueden crear objetos </a:t>
            </a:r>
            <a:r>
              <a:rPr b="1" lang="es"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es"/>
              <a:t> a</a:t>
            </a:r>
            <a:r>
              <a:rPr lang="es"/>
              <a:t>dicionales</a:t>
            </a:r>
            <a:r>
              <a:rPr lang="es"/>
              <a:t> si se necesita abrir ventanas adicionales. Por ejemplo, para diálogos, asistentes, etc.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Scene</a:t>
            </a:r>
            <a:endParaRPr/>
          </a:p>
        </p:txBody>
      </p:sp>
      <p:sp>
        <p:nvSpPr>
          <p:cNvPr id="346" name="Google Shape;346;p23"/>
          <p:cNvSpPr txBox="1"/>
          <p:nvPr>
            <p:ph idx="1" type="body"/>
          </p:nvPr>
        </p:nvSpPr>
        <p:spPr>
          <a:xfrm>
            <a:off x="1303200" y="1490675"/>
            <a:ext cx="7236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mostrar cualquier cosa en un escenario (</a:t>
            </a:r>
            <a:r>
              <a:rPr i="1" lang="es"/>
              <a:t>stage</a:t>
            </a:r>
            <a:r>
              <a:rPr lang="es"/>
              <a:t>) se necesita una </a:t>
            </a:r>
            <a:r>
              <a:rPr b="1" lang="es"/>
              <a:t>escena</a:t>
            </a:r>
            <a:r>
              <a:rPr lang="es"/>
              <a:t> (</a:t>
            </a:r>
            <a:r>
              <a:rPr i="1" lang="es"/>
              <a:t>scene</a:t>
            </a:r>
            <a:r>
              <a:rPr lang="es"/>
              <a:t>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Un escenario solo puede mostrar </a:t>
            </a:r>
            <a:r>
              <a:rPr b="1" lang="es"/>
              <a:t>una escena a la vez</a:t>
            </a:r>
            <a:r>
              <a:rPr lang="es"/>
              <a:t>, pero puede intercambiarla en tiempo de ejecución y así mostrar múltiples escenas (una a la vez) durante el tiempo de vida de una aplicación JavaFX.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Una escena se representa por un objeto </a:t>
            </a:r>
            <a:r>
              <a:rPr b="1"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Scene</a:t>
            </a:r>
            <a:r>
              <a:rPr lang="es"/>
              <a:t> dentro de una aplicación JavaFX que puede crear todos los que necesite.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Scene Graph</a:t>
            </a:r>
            <a:endParaRPr/>
          </a:p>
        </p:txBody>
      </p:sp>
      <p:sp>
        <p:nvSpPr>
          <p:cNvPr id="352" name="Google Shape;352;p24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Todos los componentes visuales (controles, diseños, etc.) deben adjuntarse a una escena que se va a mostrar, y esa escena debe adjuntarse a un escenario para que toda la escena sea visible.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conjunto total de objetos gráficos de todos los controles, diseños, etc. adjuntos a una escena se denomina gráfico de escena (</a:t>
            </a:r>
            <a:r>
              <a:rPr b="1" lang="es"/>
              <a:t>Scene Graph</a:t>
            </a:r>
            <a:r>
              <a:rPr lang="es"/>
              <a:t>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Nodes</a:t>
            </a:r>
            <a:endParaRPr/>
          </a:p>
        </p:txBody>
      </p:sp>
      <p:sp>
        <p:nvSpPr>
          <p:cNvPr id="358" name="Google Shape;358;p25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Todos los componentes adjuntos al escenario gráfico se denominan </a:t>
            </a:r>
            <a:r>
              <a:rPr b="1" lang="es"/>
              <a:t>nodos</a:t>
            </a:r>
            <a:r>
              <a:rPr lang="es"/>
              <a:t>. Todos los nodos son subclases de una clase JavaFX llamada </a:t>
            </a:r>
            <a:r>
              <a:rPr b="1"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javafx.scene.Node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Nodos </a:t>
            </a:r>
            <a:r>
              <a:rPr b="1" lang="es"/>
              <a:t>rama</a:t>
            </a:r>
            <a:r>
              <a:rPr lang="es"/>
              <a:t>: puede contener otros nodos (secundarios). También se denominan </a:t>
            </a:r>
            <a:r>
              <a:rPr b="1" lang="es"/>
              <a:t>nodos principales.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Nodos </a:t>
            </a:r>
            <a:r>
              <a:rPr b="1" lang="es"/>
              <a:t>hoja</a:t>
            </a:r>
            <a:r>
              <a:rPr lang="es"/>
              <a:t>: no puede contener otros nodos.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Controls</a:t>
            </a:r>
            <a:endParaRPr/>
          </a:p>
        </p:txBody>
      </p:sp>
      <p:sp>
        <p:nvSpPr>
          <p:cNvPr id="364" name="Google Shape;364;p26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</a:t>
            </a:r>
            <a:r>
              <a:rPr lang="es" u="sng">
                <a:solidFill>
                  <a:schemeClr val="hlink"/>
                </a:solidFill>
                <a:hlinkClick r:id="rId3"/>
              </a:rPr>
              <a:t>controles</a:t>
            </a:r>
            <a:r>
              <a:rPr lang="es"/>
              <a:t> JavaFX son </a:t>
            </a:r>
            <a:r>
              <a:rPr b="1" lang="es"/>
              <a:t>componentes</a:t>
            </a:r>
            <a:r>
              <a:rPr lang="es"/>
              <a:t> que proporcionan algún tipo de funcionalidad dentro de una aplicación JavaFX. Por ejemplo, un botón, botón de opción, tabla, árbol,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Para que un control sea visible, debe estar adjunto al escenario gráfico de algún objeto </a:t>
            </a:r>
            <a:r>
              <a:rPr i="1" lang="es"/>
              <a:t>Scene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Los controles generalmente están anidados dentro de algún </a:t>
            </a:r>
            <a:r>
              <a:rPr b="1" i="1" lang="es"/>
              <a:t>layout</a:t>
            </a:r>
            <a:r>
              <a:rPr lang="es"/>
              <a:t> de JavaFX que administra el diseño de los controles entre sí.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"/>
          <p:cNvSpPr txBox="1"/>
          <p:nvPr>
            <p:ph type="title"/>
          </p:nvPr>
        </p:nvSpPr>
        <p:spPr>
          <a:xfrm>
            <a:off x="1303800" y="598575"/>
            <a:ext cx="42690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Layouts</a:t>
            </a:r>
            <a:endParaRPr/>
          </a:p>
        </p:txBody>
      </p:sp>
      <p:sp>
        <p:nvSpPr>
          <p:cNvPr id="370" name="Google Shape;370;p27"/>
          <p:cNvSpPr txBox="1"/>
          <p:nvPr>
            <p:ph idx="1" type="body"/>
          </p:nvPr>
        </p:nvSpPr>
        <p:spPr>
          <a:xfrm>
            <a:off x="1303800" y="1206250"/>
            <a:ext cx="44880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</a:t>
            </a:r>
            <a:r>
              <a:rPr lang="es" u="sng">
                <a:solidFill>
                  <a:schemeClr val="hlink"/>
                </a:solidFill>
                <a:hlinkClick r:id="rId3"/>
              </a:rPr>
              <a:t>layouts</a:t>
            </a:r>
            <a:r>
              <a:rPr lang="es"/>
              <a:t> s</a:t>
            </a:r>
            <a:r>
              <a:rPr lang="es"/>
              <a:t>on componentes que contienen otros componentes dentro de ellos, incluso otros </a:t>
            </a:r>
            <a:r>
              <a:rPr i="1" lang="es"/>
              <a:t>layouts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Los </a:t>
            </a:r>
            <a:r>
              <a:rPr i="1" lang="es"/>
              <a:t>layouts</a:t>
            </a:r>
            <a:r>
              <a:rPr lang="es"/>
              <a:t> también se denominan </a:t>
            </a:r>
            <a:r>
              <a:rPr b="1" i="1" lang="es"/>
              <a:t>parent components</a:t>
            </a:r>
            <a:r>
              <a:rPr lang="es"/>
              <a:t> porque contienen </a:t>
            </a:r>
            <a:r>
              <a:rPr b="1" i="1" lang="es"/>
              <a:t>child components</a:t>
            </a:r>
            <a:r>
              <a:rPr lang="es"/>
              <a:t> y porque los </a:t>
            </a:r>
            <a:r>
              <a:rPr i="1" lang="es"/>
              <a:t>layouts</a:t>
            </a:r>
            <a:r>
              <a:rPr lang="es"/>
              <a:t> son subclases de la clase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javafx.scene.Parent</a:t>
            </a:r>
            <a:r>
              <a:rPr lang="es"/>
              <a:t>.</a:t>
            </a:r>
            <a:endParaRPr/>
          </a:p>
        </p:txBody>
      </p:sp>
      <p:pic>
        <p:nvPicPr>
          <p:cNvPr id="371" name="Google Shape;37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2500" y="2521850"/>
            <a:ext cx="280035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2350" y="480950"/>
            <a:ext cx="3395450" cy="188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Construir una aplicación JavaFX</a:t>
            </a:r>
            <a:endParaRPr/>
          </a:p>
        </p:txBody>
      </p:sp>
      <p:sp>
        <p:nvSpPr>
          <p:cNvPr id="378" name="Google Shape;378;p28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aplicación JavaFX necesita una clase de lanzamiento primaria derivada de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javafx.application.Application</a:t>
            </a:r>
            <a:r>
              <a:rPr lang="es"/>
              <a:t> y cuando </a:t>
            </a:r>
            <a:r>
              <a:rPr lang="es" u="sng">
                <a:solidFill>
                  <a:schemeClr val="hlink"/>
                </a:solidFill>
                <a:hlinkClick r:id="rId4"/>
              </a:rPr>
              <a:t>se ejecuta</a:t>
            </a:r>
            <a:r>
              <a:rPr lang="es"/>
              <a:t> se llama a estos métodos en orden: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Roboto Mono"/>
              <a:buChar char="●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init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/>
              <a:t>Código a ejecutar antes de que comience la aplicación gráfica.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 Mono"/>
              <a:buChar char="●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abstract void </a:t>
            </a:r>
            <a:r>
              <a:rPr b="1"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6"/>
              </a:rPr>
              <a:t>start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(Stage stage)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/>
              <a:t>Código a ejecutar por la aplicación gráfica.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 Mono"/>
              <a:buChar char="●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7"/>
              </a:rPr>
              <a:t>stop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/>
              <a:t>Código a ejecutar después de que termine la aplicación gráfica.</a:t>
            </a:r>
            <a:endParaRPr/>
          </a:p>
        </p:txBody>
      </p:sp>
      <p:pic>
        <p:nvPicPr>
          <p:cNvPr id="379" name="Google Shape;379;p28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26375" y="3798475"/>
            <a:ext cx="869676" cy="86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9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2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038" y="90099"/>
            <a:ext cx="8545924" cy="46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/>
          <p:nvPr/>
        </p:nvSpPr>
        <p:spPr>
          <a:xfrm>
            <a:off x="2946350" y="1620500"/>
            <a:ext cx="3308400" cy="3114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9"/>
          <p:cNvSpPr/>
          <p:nvPr/>
        </p:nvSpPr>
        <p:spPr>
          <a:xfrm>
            <a:off x="3060000" y="879700"/>
            <a:ext cx="2546400" cy="2862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9" name="Google Shape;389;p29"/>
          <p:cNvCxnSpPr/>
          <p:nvPr/>
        </p:nvCxnSpPr>
        <p:spPr>
          <a:xfrm flipH="1" rot="10800000">
            <a:off x="2984250" y="3678750"/>
            <a:ext cx="1494300" cy="84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0" name="Google Shape;39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8628" y="2634900"/>
            <a:ext cx="2258475" cy="183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Añadir un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Scene</a:t>
            </a:r>
            <a:r>
              <a:rPr lang="es"/>
              <a:t> al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6" name="Google Shape;396;p30"/>
          <p:cNvSpPr txBox="1"/>
          <p:nvPr>
            <p:ph idx="1" type="body"/>
          </p:nvPr>
        </p:nvSpPr>
        <p:spPr>
          <a:xfrm>
            <a:off x="1178550" y="1490675"/>
            <a:ext cx="34893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</a:t>
            </a:r>
            <a:r>
              <a:rPr b="1" lang="es"/>
              <a:t>mostrar</a:t>
            </a:r>
            <a:r>
              <a:rPr lang="es"/>
              <a:t> algo dentro de la ventana de la aplicación JavaFX hay que añadir un </a:t>
            </a:r>
            <a:r>
              <a:rPr b="1" lang="es">
                <a:latin typeface="Roboto Mono"/>
                <a:ea typeface="Roboto Mono"/>
                <a:cs typeface="Roboto Mono"/>
                <a:sym typeface="Roboto Mono"/>
              </a:rPr>
              <a:t>Scene</a:t>
            </a:r>
            <a:r>
              <a:rPr lang="es"/>
              <a:t> al </a:t>
            </a:r>
            <a:r>
              <a:rPr lang="es"/>
              <a:t>objeto</a:t>
            </a:r>
            <a:r>
              <a:rPr lang="es"/>
              <a:t> </a:t>
            </a:r>
            <a:r>
              <a:rPr b="1" lang="es"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Esto se hace dentro del </a:t>
            </a:r>
            <a:r>
              <a:rPr lang="es"/>
              <a:t>método</a:t>
            </a:r>
            <a:r>
              <a:rPr lang="es"/>
              <a:t>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start()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7" name="Google Shape;397;p3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250" y="1436725"/>
            <a:ext cx="4167726" cy="332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/>
          <p:nvPr>
            <p:ph type="title"/>
          </p:nvPr>
        </p:nvSpPr>
        <p:spPr>
          <a:xfrm>
            <a:off x="1303800" y="598575"/>
            <a:ext cx="54168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JavaFX Stage</a:t>
            </a:r>
            <a:endParaRPr/>
          </a:p>
        </p:txBody>
      </p:sp>
      <p:sp>
        <p:nvSpPr>
          <p:cNvPr id="403" name="Google Shape;403;p31"/>
          <p:cNvSpPr txBox="1"/>
          <p:nvPr>
            <p:ph idx="1" type="body"/>
          </p:nvPr>
        </p:nvSpPr>
        <p:spPr>
          <a:xfrm>
            <a:off x="1303200" y="1490675"/>
            <a:ext cx="58605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se inicia una aplicación JavaFX, crea un objeto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es"/>
              <a:t> raíz que se pasa al método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start()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Este objeto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es"/>
              <a:t> representa la </a:t>
            </a:r>
            <a:r>
              <a:rPr b="1" lang="es"/>
              <a:t>ventana principal</a:t>
            </a:r>
            <a:r>
              <a:rPr lang="es"/>
              <a:t> de la aplicación JavaFX.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pueden crear nuevos objetos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es"/>
              <a:t> más adelante durante el tiempo de la aplicación, en caso de necesitarlos.</a:t>
            </a:r>
            <a:endParaRPr/>
          </a:p>
        </p:txBody>
      </p:sp>
      <p:pic>
        <p:nvPicPr>
          <p:cNvPr id="404" name="Google Shape;404;p3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5375" y="1382225"/>
            <a:ext cx="1233374" cy="123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1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71300" y="3145700"/>
            <a:ext cx="1233375" cy="12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1"/>
          <p:cNvSpPr txBox="1"/>
          <p:nvPr/>
        </p:nvSpPr>
        <p:spPr>
          <a:xfrm>
            <a:off x="7597850" y="2625350"/>
            <a:ext cx="10545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Tutorial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7" name="Google Shape;407;p31"/>
          <p:cNvSpPr txBox="1"/>
          <p:nvPr/>
        </p:nvSpPr>
        <p:spPr>
          <a:xfrm>
            <a:off x="7599600" y="4301750"/>
            <a:ext cx="10545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Ejemplos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Eventos de JavaFX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3" name="Google Shape;413;p32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es"/>
              <a:t> puede </a:t>
            </a:r>
            <a:r>
              <a:rPr b="1" lang="es"/>
              <a:t>emitir eventos</a:t>
            </a:r>
            <a:r>
              <a:rPr lang="es"/>
              <a:t> que desde la aplicación podemos escuchar y manejar, por ejemplo el cierre de una ventana.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También podemos </a:t>
            </a:r>
            <a:r>
              <a:rPr b="1" lang="es"/>
              <a:t>registrar un controlador de eventos</a:t>
            </a:r>
            <a:r>
              <a:rPr lang="es"/>
              <a:t> en el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es"/>
              <a:t> de ratón o teclado. Se llama al controlador cuando el nodo recibe un evento del tipo especificado durante la fase de propagación de la entrega del evento.</a:t>
            </a:r>
            <a:endParaRPr/>
          </a:p>
        </p:txBody>
      </p:sp>
      <p:pic>
        <p:nvPicPr>
          <p:cNvPr id="414" name="Google Shape;414;p3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7200" y="3780200"/>
            <a:ext cx="903675" cy="9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JavaFX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Scene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0" name="Google Shape;420;p33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</a:t>
            </a:r>
            <a:r>
              <a:rPr b="1" lang="es"/>
              <a:t>escena</a:t>
            </a:r>
            <a:r>
              <a:rPr lang="es"/>
              <a:t> contiene todos los componentes visuales de la interfaz gráfica de la aplicación JavaFX.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Está representada por la clase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javafx.scene.Scene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Un </a:t>
            </a:r>
            <a:r>
              <a:rPr b="1" lang="es"/>
              <a:t>objeto </a:t>
            </a:r>
            <a:r>
              <a:rPr b="1" lang="es">
                <a:latin typeface="Roboto Mono"/>
                <a:ea typeface="Roboto Mono"/>
                <a:cs typeface="Roboto Mono"/>
                <a:sym typeface="Roboto Mono"/>
              </a:rPr>
              <a:t>Scene</a:t>
            </a:r>
            <a:r>
              <a:rPr lang="es"/>
              <a:t> debe establecerse en un escenario JavaFX (objeto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es"/>
              <a:t>) para que sea visible.</a:t>
            </a:r>
            <a:endParaRPr/>
          </a:p>
        </p:txBody>
      </p:sp>
      <p:pic>
        <p:nvPicPr>
          <p:cNvPr id="421" name="Google Shape;421;p3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1575" y="3287225"/>
            <a:ext cx="1233374" cy="1233374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3"/>
          <p:cNvSpPr txBox="1"/>
          <p:nvPr/>
        </p:nvSpPr>
        <p:spPr>
          <a:xfrm>
            <a:off x="7674050" y="4530350"/>
            <a:ext cx="10545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Tutorial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JavaFX Node</a:t>
            </a:r>
            <a:endParaRPr/>
          </a:p>
        </p:txBody>
      </p:sp>
      <p:sp>
        <p:nvSpPr>
          <p:cNvPr id="428" name="Google Shape;428;p34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clase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JavaFX Node</a:t>
            </a:r>
            <a:r>
              <a:rPr lang="es"/>
              <a:t> es una </a:t>
            </a:r>
            <a:r>
              <a:rPr lang="es"/>
              <a:t>clase abstracta y base</a:t>
            </a:r>
            <a:r>
              <a:rPr lang="es"/>
              <a:t> para todos los componentes agregados al </a:t>
            </a:r>
            <a:r>
              <a:rPr i="1" lang="es"/>
              <a:t>Scene Graph</a:t>
            </a:r>
            <a:r>
              <a:rPr lang="es"/>
              <a:t> que comparten un conjunto de </a:t>
            </a:r>
            <a:r>
              <a:rPr b="1" lang="es"/>
              <a:t>propiedades comunes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Cada instancia solo se puede añadir a la escena una vez.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Una subclase especial de JavaFX Node llamada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Parent</a:t>
            </a:r>
            <a:r>
              <a:rPr lang="es"/>
              <a:t> se utiliza para modelar la instancia de Node que puede tener hijos.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Propiedades comunes JavaFX Node</a:t>
            </a:r>
            <a:endParaRPr/>
          </a:p>
        </p:txBody>
      </p:sp>
      <p:sp>
        <p:nvSpPr>
          <p:cNvPr id="434" name="Google Shape;434;p35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S</a:t>
            </a:r>
            <a:r>
              <a:rPr lang="es"/>
              <a:t>istema de coordenadas cartesiano.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Caja que les delimita.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LayoutX y layoutY.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Altura y ancho preferido.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Altura y ancho mínimo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Altura y ancho máximo.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Datos del usuario.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Elementos (nodos secundarios)</a:t>
            </a:r>
            <a:endParaRPr/>
          </a:p>
        </p:txBody>
      </p:sp>
      <p:pic>
        <p:nvPicPr>
          <p:cNvPr id="435" name="Google Shape;435;p3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6775" y="3134825"/>
            <a:ext cx="1233374" cy="123337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 txBox="1"/>
          <p:nvPr/>
        </p:nvSpPr>
        <p:spPr>
          <a:xfrm>
            <a:off x="7411341" y="4377950"/>
            <a:ext cx="10545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Tutorial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6"/>
          <p:cNvSpPr txBox="1"/>
          <p:nvPr>
            <p:ph type="title"/>
          </p:nvPr>
        </p:nvSpPr>
        <p:spPr>
          <a:xfrm>
            <a:off x="1303800" y="598575"/>
            <a:ext cx="46743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FXML</a:t>
            </a:r>
            <a:endParaRPr/>
          </a:p>
        </p:txBody>
      </p:sp>
      <p:sp>
        <p:nvSpPr>
          <p:cNvPr id="442" name="Google Shape;442;p36"/>
          <p:cNvSpPr txBox="1"/>
          <p:nvPr>
            <p:ph idx="1" type="body"/>
          </p:nvPr>
        </p:nvSpPr>
        <p:spPr>
          <a:xfrm>
            <a:off x="1303200" y="1490675"/>
            <a:ext cx="55245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JavaFX FXML es un formato XML que permite componer GUI de JavaFX separando el código de diseño JavaFX del resto del código de la aplicación.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Permite el </a:t>
            </a:r>
            <a:r>
              <a:rPr lang="es" u="sng">
                <a:solidFill>
                  <a:schemeClr val="hlink"/>
                </a:solidFill>
                <a:hlinkClick r:id="rId3"/>
              </a:rPr>
              <a:t>uso de CSS</a:t>
            </a:r>
            <a:r>
              <a:rPr lang="es"/>
              <a:t> y de controladores de código para el manejo de los eventos de la aplicación de manera sencilla.</a:t>
            </a:r>
            <a:endParaRPr/>
          </a:p>
        </p:txBody>
      </p:sp>
      <p:pic>
        <p:nvPicPr>
          <p:cNvPr id="443" name="Google Shape;443;p3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9175" y="315425"/>
            <a:ext cx="1233374" cy="1233374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6"/>
          <p:cNvSpPr txBox="1"/>
          <p:nvPr/>
        </p:nvSpPr>
        <p:spPr>
          <a:xfrm>
            <a:off x="7563741" y="1558550"/>
            <a:ext cx="10545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Tutorial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5" name="Google Shape;445;p36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95100" y="2002700"/>
            <a:ext cx="1233375" cy="12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6"/>
          <p:cNvSpPr txBox="1"/>
          <p:nvPr/>
        </p:nvSpPr>
        <p:spPr>
          <a:xfrm>
            <a:off x="7523400" y="3158750"/>
            <a:ext cx="10545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Ejemplos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7" name="Google Shape;447;p36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80100" y="3550550"/>
            <a:ext cx="2011500" cy="7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6"/>
          <p:cNvSpPr txBox="1"/>
          <p:nvPr/>
        </p:nvSpPr>
        <p:spPr>
          <a:xfrm>
            <a:off x="6941775" y="4301750"/>
            <a:ext cx="20484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JavaFX CSS Reference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Eventos</a:t>
            </a:r>
            <a:endParaRPr/>
          </a:p>
        </p:txBody>
      </p:sp>
      <p:sp>
        <p:nvSpPr>
          <p:cNvPr id="454" name="Google Shape;454;p37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eventos en la API JavaFX son parte importante en el desarrollo de una aplicación, un evento se produce cuando el usuario </a:t>
            </a:r>
            <a:r>
              <a:rPr b="1" lang="es"/>
              <a:t>interactúa con la aplicación</a:t>
            </a:r>
            <a:r>
              <a:rPr lang="es"/>
              <a:t>, por ejemplo, al hacer clic sobre un botón, al mover el ratón sobre algún control, al presionar una tecla,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La clase base que representa un evento es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Event</a:t>
            </a:r>
            <a:r>
              <a:rPr lang="es"/>
              <a:t>, algunas de sus subclases importantes son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MouseEvent</a:t>
            </a:r>
            <a:r>
              <a:rPr lang="es"/>
              <a:t>,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KeyEvent</a:t>
            </a:r>
            <a:r>
              <a:rPr lang="es"/>
              <a:t> y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6"/>
              </a:rPr>
              <a:t>WindowEvent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Controlar Eventos</a:t>
            </a:r>
            <a:endParaRPr/>
          </a:p>
        </p:txBody>
      </p:sp>
      <p:sp>
        <p:nvSpPr>
          <p:cNvPr id="460" name="Google Shape;460;p38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controlar un evento en JavaFX disponemos de los manejadores de eventos y los filtros de eventos, cada uno de estos controladores poseen estas propiedades: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Target</a:t>
            </a:r>
            <a:r>
              <a:rPr lang="es"/>
              <a:t>: El nodo en donde se produjo el evento.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Source</a:t>
            </a:r>
            <a:r>
              <a:rPr lang="es"/>
              <a:t>: La fuente que genera el controlador del evento.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s"/>
              <a:t>: El tipo de evento producido.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Para responder a un evento requerimos un objeto que implemente la interfaz funcional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EventHandler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EventHandler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6" name="Google Shape;466;p39"/>
          <p:cNvSpPr txBox="1"/>
          <p:nvPr>
            <p:ph idx="1" type="body"/>
          </p:nvPr>
        </p:nvSpPr>
        <p:spPr>
          <a:xfrm>
            <a:off x="1303200" y="14906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base de la captura y funcionalidad de los eventos son los objetos de tipo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EventHandler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 su definición se indica el tipo de evento que se maneja y se sobrescribe el método </a:t>
            </a:r>
            <a:r>
              <a:rPr lang="es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handle()</a:t>
            </a:r>
            <a:r>
              <a:rPr lang="es"/>
              <a:t>, que recibe el evento producido del que se podrá extraer el </a:t>
            </a:r>
            <a:r>
              <a:rPr i="1" lang="es"/>
              <a:t>source</a:t>
            </a:r>
            <a:r>
              <a:rPr lang="es"/>
              <a:t>, </a:t>
            </a:r>
            <a:r>
              <a:rPr i="1" lang="es"/>
              <a:t>target</a:t>
            </a:r>
            <a:r>
              <a:rPr lang="es"/>
              <a:t> y </a:t>
            </a:r>
            <a:r>
              <a:rPr i="1" lang="es"/>
              <a:t>type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Al ser </a:t>
            </a: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EventHandler</a:t>
            </a:r>
            <a:r>
              <a:rPr lang="es"/>
              <a:t> una interfaz funcional podemos crear estos objetos usando expresiones </a:t>
            </a:r>
            <a:r>
              <a:rPr i="1" lang="es"/>
              <a:t>lambda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"/>
          <p:cNvSpPr txBox="1"/>
          <p:nvPr>
            <p:ph type="title"/>
          </p:nvPr>
        </p:nvSpPr>
        <p:spPr>
          <a:xfrm>
            <a:off x="1303800" y="3699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</a:t>
            </a:r>
            <a:r>
              <a:rPr lang="es"/>
              <a:t>roceso de generación de un evento</a:t>
            </a:r>
            <a:endParaRPr/>
          </a:p>
        </p:txBody>
      </p:sp>
      <p:sp>
        <p:nvSpPr>
          <p:cNvPr id="472" name="Google Shape;472;p40"/>
          <p:cNvSpPr txBox="1"/>
          <p:nvPr>
            <p:ph idx="1" type="body"/>
          </p:nvPr>
        </p:nvSpPr>
        <p:spPr>
          <a:xfrm>
            <a:off x="1303200" y="1033475"/>
            <a:ext cx="7155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s"/>
              <a:t>Construcción de la ruta</a:t>
            </a:r>
            <a:r>
              <a:rPr lang="es"/>
              <a:t>: se crea la ruta que seguirá el evento, iniciándose en la ventana (Stage) y terminando en el objeto donde se origina el evento.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s"/>
              <a:t>Fase de captura</a:t>
            </a:r>
            <a:r>
              <a:rPr lang="es"/>
              <a:t>: se distribuye el evento recorriendo la jerarquía desde la parte superior. Si alg</a:t>
            </a:r>
            <a:r>
              <a:rPr lang="es"/>
              <a:t>uno</a:t>
            </a:r>
            <a:r>
              <a:rPr lang="es"/>
              <a:t> </a:t>
            </a:r>
            <a:r>
              <a:rPr lang="es"/>
              <a:t>de los </a:t>
            </a:r>
            <a:r>
              <a:rPr lang="es"/>
              <a:t>nodo</a:t>
            </a:r>
            <a:r>
              <a:rPr lang="es"/>
              <a:t>s</a:t>
            </a:r>
            <a:r>
              <a:rPr lang="es"/>
              <a:t> ha registrado un manejador con </a:t>
            </a:r>
            <a:r>
              <a:rPr lang="es" u="sng">
                <a:solidFill>
                  <a:schemeClr val="hlink"/>
                </a:solidFill>
                <a:hlinkClick r:id="rId3"/>
              </a:rPr>
              <a:t>addEventFilter</a:t>
            </a:r>
            <a:r>
              <a:rPr lang="es"/>
              <a:t> se invoca.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s"/>
              <a:t>Fase de propagación</a:t>
            </a:r>
            <a:r>
              <a:rPr lang="es"/>
              <a:t>: </a:t>
            </a:r>
            <a:r>
              <a:rPr lang="es"/>
              <a:t>ocurre </a:t>
            </a:r>
            <a:r>
              <a:rPr lang="es"/>
              <a:t>el proceso inverso, el evento se distribuye desde su origen hasta </a:t>
            </a:r>
            <a:r>
              <a:rPr lang="es"/>
              <a:t>llegar a</a:t>
            </a:r>
            <a:r>
              <a:rPr lang="es"/>
              <a:t> la parte superior de la ruta. Si algún nodo ha registrado un manejador de eventos con </a:t>
            </a:r>
            <a:r>
              <a:rPr lang="es" u="sng">
                <a:solidFill>
                  <a:schemeClr val="hlink"/>
                </a:solidFill>
                <a:hlinkClick r:id="rId4"/>
              </a:rPr>
              <a:t>addEventHandler</a:t>
            </a:r>
            <a:r>
              <a:rPr lang="es"/>
              <a:t>, se invoca. 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VBox Layout</a:t>
            </a:r>
            <a:endParaRPr/>
          </a:p>
        </p:txBody>
      </p:sp>
      <p:pic>
        <p:nvPicPr>
          <p:cNvPr id="478" name="Google Shape;478;p4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0763" y="1362075"/>
            <a:ext cx="6086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1"/>
          <p:cNvSpPr txBox="1"/>
          <p:nvPr>
            <p:ph idx="1" type="body"/>
          </p:nvPr>
        </p:nvSpPr>
        <p:spPr>
          <a:xfrm>
            <a:off x="872425" y="1902675"/>
            <a:ext cx="23970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</a:t>
            </a:r>
            <a:r>
              <a:rPr lang="es"/>
              <a:t>ste layout nos permite colocar nodos hijos en forma de columna, lista vertical o caja vertical.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</a:t>
            </a:r>
            <a:r>
              <a:rPr lang="es"/>
              <a:t>Box Layout</a:t>
            </a:r>
            <a:endParaRPr/>
          </a:p>
        </p:txBody>
      </p:sp>
      <p:pic>
        <p:nvPicPr>
          <p:cNvPr id="485" name="Google Shape;485;p4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4463" y="1100138"/>
            <a:ext cx="6315075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2"/>
          <p:cNvSpPr txBox="1"/>
          <p:nvPr>
            <p:ph idx="1" type="body"/>
          </p:nvPr>
        </p:nvSpPr>
        <p:spPr>
          <a:xfrm>
            <a:off x="1303200" y="3905700"/>
            <a:ext cx="7155900" cy="6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Este layout es exactamente igual que el anterior a excepción de que en lugar de ser una fila vertical, esta es horizontal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3"/>
          <p:cNvSpPr txBox="1"/>
          <p:nvPr>
            <p:ph type="title"/>
          </p:nvPr>
        </p:nvSpPr>
        <p:spPr>
          <a:xfrm>
            <a:off x="1303800" y="4461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 BorderPane</a:t>
            </a:r>
            <a:endParaRPr/>
          </a:p>
        </p:txBody>
      </p:sp>
      <p:pic>
        <p:nvPicPr>
          <p:cNvPr id="492" name="Google Shape;492;p4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5799" y="1069451"/>
            <a:ext cx="4158251" cy="292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6375" y="1079253"/>
            <a:ext cx="2472299" cy="14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6375" y="2558505"/>
            <a:ext cx="2472300" cy="1425718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3"/>
          <p:cNvSpPr txBox="1"/>
          <p:nvPr>
            <p:ph idx="1" type="body"/>
          </p:nvPr>
        </p:nvSpPr>
        <p:spPr>
          <a:xfrm>
            <a:off x="1303200" y="3975703"/>
            <a:ext cx="71559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Este layout permite agregar 5 nodos hijos en distintas posiciones: </a:t>
            </a:r>
            <a:r>
              <a:rPr i="1" lang="es"/>
              <a:t>top, left, right, bottom </a:t>
            </a:r>
            <a:r>
              <a:rPr lang="es"/>
              <a:t>y</a:t>
            </a:r>
            <a:r>
              <a:rPr i="1" lang="es"/>
              <a:t> center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 FlowPane</a:t>
            </a:r>
            <a:endParaRPr/>
          </a:p>
        </p:txBody>
      </p:sp>
      <p:sp>
        <p:nvSpPr>
          <p:cNvPr id="501" name="Google Shape;501;p44"/>
          <p:cNvSpPr txBox="1"/>
          <p:nvPr>
            <p:ph idx="1" type="body"/>
          </p:nvPr>
        </p:nvSpPr>
        <p:spPr>
          <a:xfrm>
            <a:off x="1303200" y="2100275"/>
            <a:ext cx="2949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Este tipo de layout es parecido al HBox y al VBox. Puede ser como cualquiera de los dos, todo depende del constructor.</a:t>
            </a:r>
            <a:endParaRPr/>
          </a:p>
        </p:txBody>
      </p:sp>
      <p:pic>
        <p:nvPicPr>
          <p:cNvPr id="502" name="Google Shape;502;p4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9963" y="1562100"/>
            <a:ext cx="5476875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 GridPane</a:t>
            </a:r>
            <a:endParaRPr/>
          </a:p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1303200" y="1643075"/>
            <a:ext cx="16386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Este layout nos permite crear una matriz o cuadrícula.</a:t>
            </a:r>
            <a:endParaRPr/>
          </a:p>
        </p:txBody>
      </p:sp>
      <p:pic>
        <p:nvPicPr>
          <p:cNvPr id="509" name="Google Shape;509;p4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7975" y="1457325"/>
            <a:ext cx="588645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 StackPane</a:t>
            </a:r>
            <a:endParaRPr/>
          </a:p>
        </p:txBody>
      </p:sp>
      <p:sp>
        <p:nvSpPr>
          <p:cNvPr id="515" name="Google Shape;515;p46"/>
          <p:cNvSpPr txBox="1"/>
          <p:nvPr>
            <p:ph idx="1" type="body"/>
          </p:nvPr>
        </p:nvSpPr>
        <p:spPr>
          <a:xfrm>
            <a:off x="5423500" y="1576400"/>
            <a:ext cx="3468900" cy="10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Este layout añade sus nodos en una pila, el 1er elemento queda debajo del 2º y así sucesivamente.</a:t>
            </a:r>
            <a:endParaRPr/>
          </a:p>
        </p:txBody>
      </p:sp>
      <p:pic>
        <p:nvPicPr>
          <p:cNvPr id="516" name="Google Shape;516;p4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071" y="1451796"/>
            <a:ext cx="4576050" cy="218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825" y="2957745"/>
            <a:ext cx="4197075" cy="17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 TilePane</a:t>
            </a:r>
            <a:endParaRPr/>
          </a:p>
        </p:txBody>
      </p:sp>
      <p:sp>
        <p:nvSpPr>
          <p:cNvPr id="523" name="Google Shape;523;p47"/>
          <p:cNvSpPr txBox="1"/>
          <p:nvPr>
            <p:ph idx="1" type="body"/>
          </p:nvPr>
        </p:nvSpPr>
        <p:spPr>
          <a:xfrm>
            <a:off x="1303200" y="1490675"/>
            <a:ext cx="39201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TilePane, al igual que FlowPane, crea un layout que permite añadir nodos de forma vertical o horizontal.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La diferencia radica en que TilePane puede especificar en filas y columnas como se van añadiendo los nodos.</a:t>
            </a:r>
            <a:endParaRPr/>
          </a:p>
        </p:txBody>
      </p:sp>
      <p:pic>
        <p:nvPicPr>
          <p:cNvPr id="524" name="Google Shape;524;p4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2100" y="1638300"/>
            <a:ext cx="34290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 AnchorPane</a:t>
            </a:r>
            <a:endParaRPr/>
          </a:p>
        </p:txBody>
      </p:sp>
      <p:sp>
        <p:nvSpPr>
          <p:cNvPr id="530" name="Google Shape;530;p48"/>
          <p:cNvSpPr txBox="1"/>
          <p:nvPr>
            <p:ph idx="1" type="body"/>
          </p:nvPr>
        </p:nvSpPr>
        <p:spPr>
          <a:xfrm>
            <a:off x="5787300" y="1490675"/>
            <a:ext cx="31929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AnchorPane es parecido a BorderPane, la diferencia radica en que AnchorPane nos brinda más libertad para posicionar los elementos.</a:t>
            </a:r>
            <a:endParaRPr/>
          </a:p>
        </p:txBody>
      </p:sp>
      <p:pic>
        <p:nvPicPr>
          <p:cNvPr id="531" name="Google Shape;531;p4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96" y="1516923"/>
            <a:ext cx="5478608" cy="31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